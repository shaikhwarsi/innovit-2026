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eague Spartan" charset="1" panose="00000800000000000000"/>
      <p:regular r:id="rId14"/>
    </p:embeddedFont>
    <p:embeddedFont>
      <p:font typeface="Times New Roman Bold" charset="1" panose="02020803070505020304"/>
      <p:regular r:id="rId15"/>
    </p:embeddedFont>
    <p:embeddedFont>
      <p:font typeface="Garamond Bold" charset="1" panose="02020804030307010803"/>
      <p:regular r:id="rId16"/>
    </p:embeddedFont>
    <p:embeddedFont>
      <p:font typeface="Times New Roman" charset="1" panose="02020603050405020304"/>
      <p:regular r:id="rId20"/>
    </p:embeddedFont>
    <p:embeddedFont>
      <p:font typeface="Calibri (MS)" charset="1" panose="020F0502020204030204"/>
      <p:regular r:id="rId21"/>
    </p:embeddedFont>
    <p:embeddedFont>
      <p:font typeface="Arial Bold" charset="1" panose="020B0704020202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20184" y="1863017"/>
            <a:ext cx="5903768" cy="6560966"/>
          </a:xfrm>
          <a:custGeom>
            <a:avLst/>
            <a:gdLst/>
            <a:ahLst/>
            <a:cxnLst/>
            <a:rect r="r" b="b" t="t" l="l"/>
            <a:pathLst>
              <a:path h="6560966" w="5903768">
                <a:moveTo>
                  <a:pt x="0" y="0"/>
                </a:moveTo>
                <a:lnTo>
                  <a:pt x="5903769" y="0"/>
                </a:lnTo>
                <a:lnTo>
                  <a:pt x="5903769" y="6560966"/>
                </a:lnTo>
                <a:lnTo>
                  <a:pt x="0" y="6560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0"/>
            <a:ext cx="15544800" cy="1765810"/>
            <a:chOff x="0" y="0"/>
            <a:chExt cx="20726400" cy="23544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26400" cy="2354413"/>
            </a:xfrm>
            <a:custGeom>
              <a:avLst/>
              <a:gdLst/>
              <a:ahLst/>
              <a:cxnLst/>
              <a:rect r="r" b="b" t="t" l="l"/>
              <a:pathLst>
                <a:path h="2354413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354413"/>
                  </a:lnTo>
                  <a:lnTo>
                    <a:pt x="0" y="2354413"/>
                  </a:lnTo>
                  <a:close/>
                </a:path>
              </a:pathLst>
            </a:custGeom>
            <a:solidFill>
              <a:srgbClr val="F89522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0726400" cy="23639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>
                  <a:solidFill>
                    <a:srgbClr val="F8952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INNOVIT 2026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355371" y="3160395"/>
            <a:ext cx="7932629" cy="5263588"/>
          </a:xfrm>
          <a:custGeom>
            <a:avLst/>
            <a:gdLst/>
            <a:ahLst/>
            <a:cxnLst/>
            <a:rect r="r" b="b" t="t" l="l"/>
            <a:pathLst>
              <a:path h="5263588" w="7932629">
                <a:moveTo>
                  <a:pt x="0" y="0"/>
                </a:moveTo>
                <a:lnTo>
                  <a:pt x="7932629" y="0"/>
                </a:lnTo>
                <a:lnTo>
                  <a:pt x="7932629" y="5263588"/>
                </a:lnTo>
                <a:lnTo>
                  <a:pt x="0" y="5263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459" t="-21717" r="-28409" b="-3979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8196" y="154039"/>
            <a:ext cx="1749322" cy="1749322"/>
          </a:xfrm>
          <a:custGeom>
            <a:avLst/>
            <a:gdLst/>
            <a:ahLst/>
            <a:cxnLst/>
            <a:rect r="r" b="b" t="t" l="l"/>
            <a:pathLst>
              <a:path h="1749322" w="1749322">
                <a:moveTo>
                  <a:pt x="0" y="0"/>
                </a:moveTo>
                <a:lnTo>
                  <a:pt x="1749322" y="0"/>
                </a:lnTo>
                <a:lnTo>
                  <a:pt x="1749322" y="1749322"/>
                </a:lnTo>
                <a:lnTo>
                  <a:pt x="0" y="17493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87600" y="106671"/>
            <a:ext cx="3068931" cy="1315256"/>
          </a:xfrm>
          <a:custGeom>
            <a:avLst/>
            <a:gdLst/>
            <a:ahLst/>
            <a:cxnLst/>
            <a:rect r="r" b="b" t="t" l="l"/>
            <a:pathLst>
              <a:path h="1315256" w="3068931">
                <a:moveTo>
                  <a:pt x="0" y="0"/>
                </a:moveTo>
                <a:lnTo>
                  <a:pt x="3068931" y="0"/>
                </a:lnTo>
                <a:lnTo>
                  <a:pt x="3068931" y="1315256"/>
                </a:lnTo>
                <a:lnTo>
                  <a:pt x="0" y="13152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8196" y="3007687"/>
            <a:ext cx="10188499" cy="541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7272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ID –</a:t>
            </a:r>
          </a:p>
          <a:p>
            <a:pPr algn="just" marL="651053" indent="-325526" lvl="1">
              <a:lnSpc>
                <a:spcPts val="7272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Title-</a:t>
            </a:r>
          </a:p>
          <a:p>
            <a:pPr algn="just" marL="651053" indent="-325526" lvl="1">
              <a:lnSpc>
                <a:spcPts val="7272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</a:p>
          <a:p>
            <a:pPr algn="just" marL="651053" indent="-325526" lvl="1">
              <a:lnSpc>
                <a:spcPts val="7272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 - </a:t>
            </a:r>
          </a:p>
          <a:p>
            <a:pPr algn="just" marL="651053" indent="-325526" lvl="1">
              <a:lnSpc>
                <a:spcPts val="7272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Leader Name - </a:t>
            </a:r>
          </a:p>
          <a:p>
            <a:pPr algn="just" marL="651510" indent="-325755" lvl="1">
              <a:lnSpc>
                <a:spcPts val="7272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Leader Contact No. -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003853" y="8423983"/>
            <a:ext cx="8635665" cy="1003239"/>
            <a:chOff x="0" y="0"/>
            <a:chExt cx="11767166" cy="13670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67165" cy="1367038"/>
            </a:xfrm>
            <a:custGeom>
              <a:avLst/>
              <a:gdLst/>
              <a:ahLst/>
              <a:cxnLst/>
              <a:rect r="r" b="b" t="t" l="l"/>
              <a:pathLst>
                <a:path h="1367038" w="11767165">
                  <a:moveTo>
                    <a:pt x="0" y="0"/>
                  </a:moveTo>
                  <a:lnTo>
                    <a:pt x="11767165" y="0"/>
                  </a:lnTo>
                  <a:lnTo>
                    <a:pt x="11767165" y="1367038"/>
                  </a:lnTo>
                  <a:lnTo>
                    <a:pt x="0" y="13670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1767166" cy="13670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89522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Ideas Powering Atmanirbhar Bharat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08369"/>
            <a:ext cx="18288000" cy="478631"/>
            <a:chOff x="0" y="0"/>
            <a:chExt cx="24384000" cy="638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8175"/>
            </a:xfrm>
            <a:custGeom>
              <a:avLst/>
              <a:gdLst/>
              <a:ahLst/>
              <a:cxnLst/>
              <a:rect r="r" b="b" t="t" l="l"/>
              <a:pathLst>
                <a:path h="6381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8175"/>
                  </a:lnTo>
                  <a:lnTo>
                    <a:pt x="0" y="638175"/>
                  </a:lnTo>
                  <a:close/>
                </a:path>
              </a:pathLst>
            </a:custGeom>
            <a:solidFill>
              <a:srgbClr val="F8952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88950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</a:t>
              </a:r>
              <a:r>
                <a:rPr lang="en-US" sz="48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lem Understanding &amp; Background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62658" y="2457901"/>
            <a:ext cx="13311784" cy="488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Clearly articulate the following:</a:t>
            </a:r>
          </a:p>
          <a:p>
            <a:pPr algn="l" marL="1381755" indent="-460585" lvl="2">
              <a:lnSpc>
                <a:spcPts val="3839"/>
              </a:lnSpc>
              <a:buFont typeface="Arial"/>
              <a:buChar char="⚬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specific problem?</a:t>
            </a:r>
          </a:p>
          <a:p>
            <a:pPr algn="l" marL="1381755" indent="-460585" lvl="2">
              <a:lnSpc>
                <a:spcPts val="3839"/>
              </a:lnSpc>
              <a:buFont typeface="Arial"/>
              <a:buChar char="⚬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 is impacted by this issue?</a:t>
            </a:r>
          </a:p>
          <a:p>
            <a:pPr algn="l" marL="1381755" indent="-460585" lvl="2">
              <a:lnSpc>
                <a:spcPts val="3839"/>
              </a:lnSpc>
              <a:buFont typeface="Arial"/>
              <a:buChar char="⚬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this problem significant for India?</a:t>
            </a:r>
          </a:p>
          <a:p>
            <a:pPr algn="l" marL="1381755" indent="-460585" lvl="2">
              <a:lnSpc>
                <a:spcPts val="3839"/>
              </a:lnSpc>
              <a:buFont typeface="Arial"/>
              <a:buChar char="⚬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the current gaps in existing solutions?</a:t>
            </a:r>
          </a:p>
          <a:p>
            <a:pPr algn="l">
              <a:lnSpc>
                <a:spcPts val="3839"/>
              </a:lnSpc>
            </a:pPr>
          </a:p>
          <a:p>
            <a:pPr algn="just">
              <a:lnSpc>
                <a:spcPts val="3839"/>
              </a:lnSpc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It is imperative that the problem is relevant to the Indian context. Choose an issue that is nationwide in scope—one for which you can develop a solution suitable for implementation across the country, aligned with the theme of Atmanirbhar Bharat.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994187" y="9808369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408001" cy="787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Innovit - 2026 Idea Submission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2400" y="23270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208300" y="0"/>
            <a:ext cx="2079700" cy="1379957"/>
          </a:xfrm>
          <a:custGeom>
            <a:avLst/>
            <a:gdLst/>
            <a:ahLst/>
            <a:cxnLst/>
            <a:rect r="r" b="b" t="t" l="l"/>
            <a:pathLst>
              <a:path h="1379957" w="2079700">
                <a:moveTo>
                  <a:pt x="0" y="0"/>
                </a:moveTo>
                <a:lnTo>
                  <a:pt x="2079700" y="0"/>
                </a:lnTo>
                <a:lnTo>
                  <a:pt x="2079700" y="1379957"/>
                </a:lnTo>
                <a:lnTo>
                  <a:pt x="0" y="1379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459" t="-21717" r="-28409" b="-39797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08369"/>
            <a:ext cx="18288000" cy="478631"/>
            <a:chOff x="0" y="0"/>
            <a:chExt cx="24384000" cy="638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8175"/>
            </a:xfrm>
            <a:custGeom>
              <a:avLst/>
              <a:gdLst/>
              <a:ahLst/>
              <a:cxnLst/>
              <a:rect r="r" b="b" t="t" l="l"/>
              <a:pathLst>
                <a:path h="6381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8175"/>
                  </a:lnTo>
                  <a:lnTo>
                    <a:pt x="0" y="638175"/>
                  </a:lnTo>
                  <a:close/>
                </a:path>
              </a:pathLst>
            </a:custGeom>
            <a:solidFill>
              <a:srgbClr val="F8952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88950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 / Proposed Solution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62658" y="2457901"/>
            <a:ext cx="13311784" cy="58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of t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 slide: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Convince evaluators that your solution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be implemented at a national scale, is ministry-relevant, and has a clear working mechanism.</a:t>
            </a:r>
          </a:p>
          <a:p>
            <a:pPr algn="l">
              <a:lnSpc>
                <a:spcPts val="3839"/>
              </a:lnSpc>
            </a:pP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•Detailed explanation of the proposed solution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How it addresses the problem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•Innovation and uniqueness of the solution </a:t>
            </a:r>
          </a:p>
          <a:p>
            <a:pPr algn="l">
              <a:lnSpc>
                <a:spcPts val="3839"/>
              </a:lnSpc>
            </a:pP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Nationwide Scalability: How the solution can be deployed across India securely, transparently, and at scale.</a:t>
            </a:r>
          </a:p>
          <a:p>
            <a:pPr algn="l">
              <a:lnSpc>
                <a:spcPts val="3839"/>
              </a:lnSpc>
            </a:pPr>
          </a:p>
          <a:p>
            <a:pPr algn="l">
              <a:lnSpc>
                <a:spcPts val="383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994187" y="9808369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408001" cy="787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Innovit - 2026 Idea Submission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2400" y="23270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208300" y="0"/>
            <a:ext cx="2079700" cy="1379957"/>
          </a:xfrm>
          <a:custGeom>
            <a:avLst/>
            <a:gdLst/>
            <a:ahLst/>
            <a:cxnLst/>
            <a:rect r="r" b="b" t="t" l="l"/>
            <a:pathLst>
              <a:path h="1379957" w="2079700">
                <a:moveTo>
                  <a:pt x="0" y="0"/>
                </a:moveTo>
                <a:lnTo>
                  <a:pt x="2079700" y="0"/>
                </a:lnTo>
                <a:lnTo>
                  <a:pt x="2079700" y="1379957"/>
                </a:lnTo>
                <a:lnTo>
                  <a:pt x="0" y="1379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459" t="-21717" r="-28409" b="-39797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08369"/>
            <a:ext cx="18288000" cy="478631"/>
            <a:chOff x="0" y="0"/>
            <a:chExt cx="24384000" cy="638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8175"/>
            </a:xfrm>
            <a:custGeom>
              <a:avLst/>
              <a:gdLst/>
              <a:ahLst/>
              <a:cxnLst/>
              <a:rect r="r" b="b" t="t" l="l"/>
              <a:pathLst>
                <a:path h="6381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8175"/>
                  </a:lnTo>
                  <a:lnTo>
                    <a:pt x="0" y="638175"/>
                  </a:lnTo>
                  <a:close/>
                </a:path>
              </a:pathLst>
            </a:custGeom>
            <a:solidFill>
              <a:srgbClr val="F8952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88950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62658" y="2457901"/>
            <a:ext cx="13311784" cy="58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clude the following points: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hnologies Used: Programming languages, frameworks, block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chain platform, databases, cloud services, or hardware (if any).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Architecture: High-level flow of frontend, backend, blockchain layer, and integrations.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Methodology: Step-by-step approach to build the solution (phased development).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Flow: Simple flow chart or diagram showing how data moves through the system.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 Plan: Wh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will be built in the prototype / MVP phase (no full implementation required yet).</a:t>
            </a:r>
          </a:p>
          <a:p>
            <a:pPr algn="just">
              <a:lnSpc>
                <a:spcPts val="383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994187" y="9808369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408001" cy="787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Innovit - 2026 Idea Submission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2400" y="23270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208300" y="0"/>
            <a:ext cx="2079700" cy="1379957"/>
          </a:xfrm>
          <a:custGeom>
            <a:avLst/>
            <a:gdLst/>
            <a:ahLst/>
            <a:cxnLst/>
            <a:rect r="r" b="b" t="t" l="l"/>
            <a:pathLst>
              <a:path h="1379957" w="2079700">
                <a:moveTo>
                  <a:pt x="0" y="0"/>
                </a:moveTo>
                <a:lnTo>
                  <a:pt x="2079700" y="0"/>
                </a:lnTo>
                <a:lnTo>
                  <a:pt x="2079700" y="1379957"/>
                </a:lnTo>
                <a:lnTo>
                  <a:pt x="0" y="1379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459" t="-21717" r="-28409" b="-39797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08369"/>
            <a:ext cx="18288000" cy="478631"/>
            <a:chOff x="0" y="0"/>
            <a:chExt cx="24384000" cy="638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8175"/>
            </a:xfrm>
            <a:custGeom>
              <a:avLst/>
              <a:gdLst/>
              <a:ahLst/>
              <a:cxnLst/>
              <a:rect r="r" b="b" t="t" l="l"/>
              <a:pathLst>
                <a:path h="6381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8175"/>
                  </a:lnTo>
                  <a:lnTo>
                    <a:pt x="0" y="638175"/>
                  </a:lnTo>
                  <a:close/>
                </a:path>
              </a:pathLst>
            </a:custGeom>
            <a:solidFill>
              <a:srgbClr val="F8952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88950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&amp; Viability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62658" y="2457901"/>
            <a:ext cx="13311784" cy="440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lude: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nical Feasibility: Can the solution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realistically built using available technology?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Feasibility: Can users and stakeholders adopt it easily?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&amp; Risks: T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echnical, adoption, regulatory, or scalability challenges.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ation Strategy: How each challenge can be addressed or reduced.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Viability: Sustainability and future expansion possibilities.</a:t>
            </a:r>
          </a:p>
          <a:p>
            <a:pPr algn="just">
              <a:lnSpc>
                <a:spcPts val="383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994187" y="9808369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408001" cy="787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Innovit - 2026 Idea Submission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2400" y="23270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208300" y="0"/>
            <a:ext cx="2079700" cy="1379957"/>
          </a:xfrm>
          <a:custGeom>
            <a:avLst/>
            <a:gdLst/>
            <a:ahLst/>
            <a:cxnLst/>
            <a:rect r="r" b="b" t="t" l="l"/>
            <a:pathLst>
              <a:path h="1379957" w="2079700">
                <a:moveTo>
                  <a:pt x="0" y="0"/>
                </a:moveTo>
                <a:lnTo>
                  <a:pt x="2079700" y="0"/>
                </a:lnTo>
                <a:lnTo>
                  <a:pt x="2079700" y="1379957"/>
                </a:lnTo>
                <a:lnTo>
                  <a:pt x="0" y="1379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459" t="-21717" r="-28409" b="-39797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08369"/>
            <a:ext cx="18288000" cy="478631"/>
            <a:chOff x="0" y="0"/>
            <a:chExt cx="24384000" cy="638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8175"/>
            </a:xfrm>
            <a:custGeom>
              <a:avLst/>
              <a:gdLst/>
              <a:ahLst/>
              <a:cxnLst/>
              <a:rect r="r" b="b" t="t" l="l"/>
              <a:pathLst>
                <a:path h="6381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8175"/>
                  </a:lnTo>
                  <a:lnTo>
                    <a:pt x="0" y="638175"/>
                  </a:lnTo>
                  <a:close/>
                </a:path>
              </a:pathLst>
            </a:custGeom>
            <a:solidFill>
              <a:srgbClr val="F8952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88950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&amp; Benefits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62658" y="2457901"/>
            <a:ext cx="13311784" cy="440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Include: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Ben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eficiaries: Citizens, government bodies, inst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itutions, or industry.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Economic Impact: How the solutio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benefits India at scale.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Transparency &amp; Trust: How blockchain improves r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eliability and accountability.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Contribution to Atmanirbhar Bharat: Indigenous, scalable, 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self-reliant solution.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Scope: Potential enhancements and nationwide adoption.</a:t>
            </a:r>
          </a:p>
          <a:p>
            <a:pPr algn="just">
              <a:lnSpc>
                <a:spcPts val="383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994187" y="9808369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408001" cy="787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Innovit - 2026 Idea Submission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2400" y="23270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208300" y="0"/>
            <a:ext cx="2079700" cy="1379957"/>
          </a:xfrm>
          <a:custGeom>
            <a:avLst/>
            <a:gdLst/>
            <a:ahLst/>
            <a:cxnLst/>
            <a:rect r="r" b="b" t="t" l="l"/>
            <a:pathLst>
              <a:path h="1379957" w="2079700">
                <a:moveTo>
                  <a:pt x="0" y="0"/>
                </a:moveTo>
                <a:lnTo>
                  <a:pt x="2079700" y="0"/>
                </a:lnTo>
                <a:lnTo>
                  <a:pt x="2079700" y="1379957"/>
                </a:lnTo>
                <a:lnTo>
                  <a:pt x="0" y="1379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459" t="-21717" r="-28409" b="-39797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08369"/>
            <a:ext cx="18288000" cy="478631"/>
            <a:chOff x="0" y="0"/>
            <a:chExt cx="24384000" cy="638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8175"/>
            </a:xfrm>
            <a:custGeom>
              <a:avLst/>
              <a:gdLst/>
              <a:ahLst/>
              <a:cxnLst/>
              <a:rect r="r" b="b" t="t" l="l"/>
              <a:pathLst>
                <a:path h="6381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8175"/>
                  </a:lnTo>
                  <a:lnTo>
                    <a:pt x="0" y="638175"/>
                  </a:lnTo>
                  <a:close/>
                </a:path>
              </a:pathLst>
            </a:custGeom>
            <a:solidFill>
              <a:srgbClr val="F8952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88950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&amp;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62658" y="2457901"/>
            <a:ext cx="13311784" cy="342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lude: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overnment Sources: Ministry portals, policy do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cuments, or official reports.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Systems / Case Studies: Similar ini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tiatives or platforms (if any).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References: Research papers, documentation, standards.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Sources: Surveys, st</a:t>
            </a: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atistics, or datasets used.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Links: Proper citations for all external information.</a:t>
            </a:r>
          </a:p>
          <a:p>
            <a:pPr algn="just">
              <a:lnSpc>
                <a:spcPts val="383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994187" y="9808369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408001" cy="787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Innovit - 2026 Idea Submission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2400" y="23270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208300" y="0"/>
            <a:ext cx="2079700" cy="1379957"/>
          </a:xfrm>
          <a:custGeom>
            <a:avLst/>
            <a:gdLst/>
            <a:ahLst/>
            <a:cxnLst/>
            <a:rect r="r" b="b" t="t" l="l"/>
            <a:pathLst>
              <a:path h="1379957" w="2079700">
                <a:moveTo>
                  <a:pt x="0" y="0"/>
                </a:moveTo>
                <a:lnTo>
                  <a:pt x="2079700" y="0"/>
                </a:lnTo>
                <a:lnTo>
                  <a:pt x="2079700" y="1379957"/>
                </a:lnTo>
                <a:lnTo>
                  <a:pt x="0" y="1379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459" t="-21717" r="-28409" b="-39797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08369"/>
            <a:ext cx="18288000" cy="478631"/>
            <a:chOff x="0" y="0"/>
            <a:chExt cx="24384000" cy="638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8175"/>
            </a:xfrm>
            <a:custGeom>
              <a:avLst/>
              <a:gdLst/>
              <a:ahLst/>
              <a:cxnLst/>
              <a:rect r="r" b="b" t="t" l="l"/>
              <a:pathLst>
                <a:path h="6381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8175"/>
                  </a:lnTo>
                  <a:lnTo>
                    <a:pt x="0" y="638175"/>
                  </a:lnTo>
                  <a:close/>
                </a:path>
              </a:pathLst>
            </a:custGeom>
            <a:solidFill>
              <a:srgbClr val="F8952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88950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IMPORTANT INSTRUCTIONS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88950" y="2428875"/>
            <a:ext cx="17317174" cy="731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Imp</a:t>
            </a: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ortant Instructions for Idea Submission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Kindly keep the maximum slide limit </a:t>
            </a: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up to six (8), including the title slide.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long paragraphs; present your idea using points, diagrams, flowcharts, infographics, or </a:t>
            </a: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wherever possible.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explanations clear, concise, and easy to understand.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Participants must use the provided PPT template only. The slide structure and pointers must not be modified.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Save the final submission only in PDF format.</a:t>
            </a: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PPT, Word, or any other formats will not be accepted.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</a:t>
            </a: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ame the file strictly as TeamName.pdf.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Submissions must be made only through the provided Google Form. Any other mode of submission will not be considered.</a:t>
            </a:r>
          </a:p>
          <a:p>
            <a:pPr algn="l">
              <a:lnSpc>
                <a:spcPts val="3839"/>
              </a:lnSpc>
            </a:pP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Note: This slide titled “Important Instructions ” must be deleted before final submission.</a:t>
            </a:r>
          </a:p>
          <a:p>
            <a:pPr algn="just">
              <a:lnSpc>
                <a:spcPts val="383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994187" y="9808369"/>
            <a:ext cx="4806001" cy="547688"/>
            <a:chOff x="0" y="0"/>
            <a:chExt cx="6408001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408001" cy="787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Innovit - 2026 Idea Submission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208300" y="0"/>
            <a:ext cx="2079700" cy="1379957"/>
          </a:xfrm>
          <a:custGeom>
            <a:avLst/>
            <a:gdLst/>
            <a:ahLst/>
            <a:cxnLst/>
            <a:rect r="r" b="b" t="t" l="l"/>
            <a:pathLst>
              <a:path h="1379957" w="2079700">
                <a:moveTo>
                  <a:pt x="0" y="0"/>
                </a:moveTo>
                <a:lnTo>
                  <a:pt x="2079700" y="0"/>
                </a:lnTo>
                <a:lnTo>
                  <a:pt x="2079700" y="1379957"/>
                </a:lnTo>
                <a:lnTo>
                  <a:pt x="0" y="1379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459" t="-21717" r="-28409" b="-3979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94953" y="1828095"/>
            <a:ext cx="14153607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DAG78_6igTg</dc:identifier>
  <dcterms:modified xsi:type="dcterms:W3CDTF">2011-08-01T06:04:30Z</dcterms:modified>
  <cp:revision>1</cp:revision>
  <dc:title>Innovit-Phase-1 - Idea Submission</dc:title>
</cp:coreProperties>
</file>